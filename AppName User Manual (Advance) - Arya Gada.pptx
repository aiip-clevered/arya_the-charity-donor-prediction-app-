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St0Qwfet9cZJWO3RMoc/3evqa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549ee8adeda5c8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549ee8adeda5c85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549ee8adeda5c85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549ee8adeda5c853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549ee8adeda5c85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549ee8adeda5c853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mailto:aryagada00@gmail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71472" y="428604"/>
            <a:ext cx="8072494" cy="1360005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Internship@Clevered</a:t>
            </a:r>
            <a:br>
              <a:rPr b="1" i="0" lang="en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Charity Prediction Tool.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4572000" y="6072206"/>
            <a:ext cx="4572032" cy="785818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IN">
                <a:solidFill>
                  <a:schemeClr val="dk1"/>
                </a:solidFill>
              </a:rPr>
              <a:t>Author: Arya Gada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549648" y="2948155"/>
            <a:ext cx="6400800" cy="785700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User Manual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958622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207167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lt1"/>
                </a:solidFill>
              </a:rPr>
              <a:t>• Acknowledgement</a:t>
            </a:r>
            <a:br>
              <a:rPr b="1" lang="en-IN">
                <a:solidFill>
                  <a:schemeClr val="lt1"/>
                </a:solidFill>
              </a:rPr>
            </a:br>
            <a:r>
              <a:rPr b="1" lang="en-IN">
                <a:solidFill>
                  <a:schemeClr val="lt1"/>
                </a:solidFill>
              </a:rPr>
              <a:t>• About Me</a:t>
            </a:r>
            <a:br>
              <a:rPr b="1" lang="en-IN">
                <a:solidFill>
                  <a:schemeClr val="lt1"/>
                </a:solidFill>
              </a:rPr>
            </a:br>
            <a:r>
              <a:rPr b="1" lang="en-IN">
                <a:solidFill>
                  <a:schemeClr val="lt1"/>
                </a:solidFill>
              </a:rPr>
              <a:t>• About my internship with Clevered </a:t>
            </a:r>
            <a:br>
              <a:rPr b="1" lang="en-IN">
                <a:solidFill>
                  <a:schemeClr val="lt1"/>
                </a:solidFill>
              </a:rPr>
            </a:br>
            <a:r>
              <a:rPr b="1" lang="en-IN">
                <a:solidFill>
                  <a:schemeClr val="lt1"/>
                </a:solidFill>
              </a:rPr>
              <a:t>• About the App</a:t>
            </a:r>
            <a:br>
              <a:rPr b="1" lang="en-IN">
                <a:solidFill>
                  <a:schemeClr val="lt1"/>
                </a:solidFill>
              </a:rPr>
            </a:br>
            <a:r>
              <a:rPr b="1" lang="en-IN">
                <a:solidFill>
                  <a:schemeClr val="lt1"/>
                </a:solidFill>
              </a:rPr>
              <a:t>• How to Use the App</a:t>
            </a:r>
            <a:br>
              <a:rPr b="1" lang="en-IN">
                <a:solidFill>
                  <a:schemeClr val="lt1"/>
                </a:solidFill>
              </a:rPr>
            </a:br>
            <a:r>
              <a:rPr b="1" lang="en-IN">
                <a:solidFill>
                  <a:schemeClr val="lt1"/>
                </a:solidFill>
              </a:rPr>
              <a:t>• Limitations and Considerations</a:t>
            </a:r>
            <a:br>
              <a:rPr b="1" lang="en-IN">
                <a:solidFill>
                  <a:schemeClr val="lt1"/>
                </a:solidFill>
              </a:rPr>
            </a:br>
            <a:r>
              <a:rPr b="1" lang="en-IN">
                <a:solidFill>
                  <a:schemeClr val="lt1"/>
                </a:solidFill>
              </a:rPr>
              <a:t>• Contact</a:t>
            </a:r>
            <a:endParaRPr b="1">
              <a:solidFill>
                <a:schemeClr val="lt1"/>
              </a:solidFill>
            </a:endParaRPr>
          </a:p>
          <a:p>
            <a:pPr indent="-254000" lvl="0" marL="3429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Acknowledgements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457200" y="178592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small vote of thanks for all who have helped you in this journey of App Development – my parents, Mr Ken, Clevered, Mentors, Group Members, Friends, Sites etc and especially my mentor- Mani ma’am for helping me learn and expanding my knowledge in the domains of Machine Learning and AI. 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Me..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457200" y="1791669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4572011" y="1791674"/>
            <a:ext cx="3686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52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Hii, I am Arya Gada, a Grade XII student from Mumbai at Vibgyor, with a strong interest in the intersection of Economics and Computer Science, researching on public policy and commercial applications of Machine Learning.</a:t>
            </a:r>
            <a:endParaRPr b="1" sz="45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52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aspire to study Economics and Computer Science in the future and hope to do rigorous research. </a:t>
            </a:r>
            <a:endParaRPr b="1" sz="45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452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internship gave me the opportunity to take those interests a step further by working with real datasets and building a machine-learning solution to a practical problem.</a:t>
            </a:r>
            <a:endParaRPr b="1" sz="452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75" y="1791675"/>
            <a:ext cx="3179975" cy="44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755576" y="404553"/>
            <a:ext cx="7632848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My Internship with Clevered..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57200" y="1600200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4172150" y="1571600"/>
            <a:ext cx="4644600" cy="26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1100">
                <a:solidFill>
                  <a:schemeClr val="lt1"/>
                </a:solidFill>
              </a:rPr>
              <a:t>During my internship with Clevered, I worked on an AI-based project focused on predicting household cash-giving behaviour.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IN" sz="1300">
                <a:solidFill>
                  <a:schemeClr val="lt1"/>
                </a:solidFill>
              </a:rPr>
              <a:t>What I worked on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1100">
                <a:solidFill>
                  <a:schemeClr val="lt1"/>
                </a:solidFill>
              </a:rPr>
              <a:t>• Data collection and preparation</a:t>
            </a:r>
            <a:br>
              <a:rPr b="1" lang="en-IN" sz="1100">
                <a:solidFill>
                  <a:schemeClr val="lt1"/>
                </a:solidFill>
              </a:rPr>
            </a:br>
            <a:r>
              <a:rPr b="1" lang="en-IN" sz="1100">
                <a:solidFill>
                  <a:schemeClr val="lt1"/>
                </a:solidFill>
              </a:rPr>
              <a:t>• Exploratory data analysis</a:t>
            </a:r>
            <a:br>
              <a:rPr b="1" lang="en-IN" sz="1100">
                <a:solidFill>
                  <a:schemeClr val="lt1"/>
                </a:solidFill>
              </a:rPr>
            </a:br>
            <a:r>
              <a:rPr b="1" lang="en-IN" sz="1100">
                <a:solidFill>
                  <a:schemeClr val="lt1"/>
                </a:solidFill>
              </a:rPr>
              <a:t>• Feature selection and feature engineering</a:t>
            </a:r>
            <a:br>
              <a:rPr b="1" lang="en-IN" sz="1100">
                <a:solidFill>
                  <a:schemeClr val="lt1"/>
                </a:solidFill>
              </a:rPr>
            </a:br>
            <a:r>
              <a:rPr b="1" lang="en-IN" sz="1100">
                <a:solidFill>
                  <a:schemeClr val="lt1"/>
                </a:solidFill>
              </a:rPr>
              <a:t>• Machine learning model development</a:t>
            </a:r>
            <a:br>
              <a:rPr b="1" lang="en-IN" sz="1100">
                <a:solidFill>
                  <a:schemeClr val="lt1"/>
                </a:solidFill>
              </a:rPr>
            </a:br>
            <a:r>
              <a:rPr b="1" lang="en-IN" sz="1100">
                <a:solidFill>
                  <a:schemeClr val="lt1"/>
                </a:solidFill>
              </a:rPr>
              <a:t>• Logistic Regression and Random Forest modelling</a:t>
            </a:r>
            <a:br>
              <a:rPr b="1" lang="en-IN" sz="1100">
                <a:solidFill>
                  <a:schemeClr val="lt1"/>
                </a:solidFill>
              </a:rPr>
            </a:br>
            <a:r>
              <a:rPr b="1" lang="en-IN" sz="1100">
                <a:solidFill>
                  <a:schemeClr val="lt1"/>
                </a:solidFill>
              </a:rPr>
              <a:t>• Model evaluation using accuracy, precision, recall, F1-score and ROC-AUC</a:t>
            </a:r>
            <a:br>
              <a:rPr b="1" lang="en-IN" sz="1100">
                <a:solidFill>
                  <a:schemeClr val="lt1"/>
                </a:solidFill>
              </a:rPr>
            </a:br>
            <a:r>
              <a:rPr b="1" lang="en-IN" sz="1100">
                <a:solidFill>
                  <a:schemeClr val="lt1"/>
                </a:solidFill>
              </a:rPr>
              <a:t>• Integration of socioeconomic information from PLFS and Global Findex</a:t>
            </a:r>
            <a:br>
              <a:rPr b="1" lang="en-IN" sz="1100">
                <a:solidFill>
                  <a:schemeClr val="lt1"/>
                </a:solidFill>
              </a:rPr>
            </a:br>
            <a:r>
              <a:rPr b="1" lang="en-IN" sz="1100">
                <a:solidFill>
                  <a:schemeClr val="lt1"/>
                </a:solidFill>
              </a:rPr>
              <a:t>• Development of a working prediction prototype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IN" sz="1300">
                <a:solidFill>
                  <a:schemeClr val="lt1"/>
                </a:solidFill>
              </a:rPr>
              <a:t>Skills Developed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1100">
                <a:solidFill>
                  <a:schemeClr val="lt1"/>
                </a:solidFill>
              </a:rPr>
              <a:t>Python • Pandas • NumPy • Matplotlib • Scikit-learn • Data Analysis • Machine Learning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00" y="1600200"/>
            <a:ext cx="3606726" cy="240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03600"/>
            <a:ext cx="4644598" cy="253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225" y="4251775"/>
            <a:ext cx="3954673" cy="243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App..</a:t>
            </a:r>
            <a:endParaRPr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457200" y="1600200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6209476" y="1571600"/>
            <a:ext cx="2505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Charity Donor Prediction App is a machine-learning prototype designed to estimate the likelihood of a household belonging to the cash-giving donor group. Users enter basic demographic, household, and economic information, and the trained Random Forest model generates a predicted donation probability. The project combines household-level giving data with socioeconomic context from PLFS and financial-inclusion insights from Global Findex to explore the factors associated with charitable giving in India.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0200"/>
            <a:ext cx="5890677" cy="37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1954632" y="2850086"/>
            <a:ext cx="5760640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I use the App?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611560" y="140358"/>
            <a:ext cx="7920880" cy="1290871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 and Residence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457200" y="1600200"/>
            <a:ext cx="347185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t/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5100670" y="1546243"/>
            <a:ext cx="375761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0302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n-IN" sz="322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 Age of Donor.</a:t>
            </a:r>
            <a:endParaRPr b="1" sz="322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337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n-IN" sz="29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 Residence: Urban or Rural. </a:t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6250"/>
            <a:ext cx="4856900" cy="11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50" y="3429000"/>
            <a:ext cx="4856899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49ee8adeda5c853_0_21"/>
          <p:cNvSpPr/>
          <p:nvPr/>
        </p:nvSpPr>
        <p:spPr>
          <a:xfrm>
            <a:off x="611560" y="140358"/>
            <a:ext cx="7920900" cy="12909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 and Household Size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h549ee8adeda5c853_0_21"/>
          <p:cNvSpPr txBox="1"/>
          <p:nvPr>
            <p:ph idx="1" type="body"/>
          </p:nvPr>
        </p:nvSpPr>
        <p:spPr>
          <a:xfrm>
            <a:off x="457200" y="1600200"/>
            <a:ext cx="3471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t/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45" name="Google Shape;145;h549ee8adeda5c853_0_21"/>
          <p:cNvSpPr txBox="1"/>
          <p:nvPr/>
        </p:nvSpPr>
        <p:spPr>
          <a:xfrm>
            <a:off x="5122120" y="1693943"/>
            <a:ext cx="375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-287678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n-IN" sz="322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 Gender of Donor</a:t>
            </a:r>
            <a:endParaRPr b="1" sz="322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34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n-IN" sz="29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 Household Size. Household size is defined as people who live in the house </a:t>
            </a:r>
            <a:r>
              <a:rPr b="1" lang="en-IN" sz="29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permanently, and not tentatively. Guests are not included. </a:t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h549ee8adeda5c853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57" y="1646350"/>
            <a:ext cx="5048274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h549ee8adeda5c853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50" y="4107350"/>
            <a:ext cx="5048275" cy="11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549ee8adeda5c853_0_31"/>
          <p:cNvSpPr/>
          <p:nvPr/>
        </p:nvSpPr>
        <p:spPr>
          <a:xfrm>
            <a:off x="611560" y="140358"/>
            <a:ext cx="7920900" cy="12909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State, District, Consumption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549ee8adeda5c853_0_31"/>
          <p:cNvSpPr txBox="1"/>
          <p:nvPr>
            <p:ph idx="1" type="body"/>
          </p:nvPr>
        </p:nvSpPr>
        <p:spPr>
          <a:xfrm>
            <a:off x="457200" y="1600200"/>
            <a:ext cx="3471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t/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54" name="Google Shape;154;h549ee8adeda5c853_0_31"/>
          <p:cNvSpPr txBox="1"/>
          <p:nvPr/>
        </p:nvSpPr>
        <p:spPr>
          <a:xfrm>
            <a:off x="5112875" y="2410525"/>
            <a:ext cx="3757500" cy="52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87678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n-IN" sz="322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from the 28 States in the dropdown menu. </a:t>
            </a:r>
            <a:endParaRPr b="1" sz="322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34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n-IN" sz="29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 Specific District in the State.</a:t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34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•"/>
            </a:pPr>
            <a:r>
              <a:rPr b="1" lang="en-IN" sz="29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 Household Consumption Monthly basis. Money earned through economic activity (not gifts or assets or interest) </a:t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h549ee8adeda5c853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00" y="1517063"/>
            <a:ext cx="3140549" cy="250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h549ee8adeda5c853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199" y="4107375"/>
            <a:ext cx="41074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h549ee8adeda5c853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799" y="5231675"/>
            <a:ext cx="4543201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549ee8adeda5c853_0_50"/>
          <p:cNvSpPr/>
          <p:nvPr/>
        </p:nvSpPr>
        <p:spPr>
          <a:xfrm>
            <a:off x="611560" y="140358"/>
            <a:ext cx="7920900" cy="12909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and Considerations</a:t>
            </a:r>
            <a:endParaRPr/>
          </a:p>
        </p:txBody>
      </p:sp>
      <p:sp>
        <p:nvSpPr>
          <p:cNvPr id="163" name="Google Shape;163;h549ee8adeda5c853_0_50"/>
          <p:cNvSpPr txBox="1"/>
          <p:nvPr/>
        </p:nvSpPr>
        <p:spPr>
          <a:xfrm>
            <a:off x="175125" y="1789500"/>
            <a:ext cx="8748000" cy="4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lt1"/>
                </a:solidFill>
              </a:rPr>
              <a:t>Limitations &amp; Caution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IN" sz="1600">
                <a:solidFill>
                  <a:schemeClr val="lt1"/>
                </a:solidFill>
              </a:rPr>
              <a:t>Moderate accuracy:</a:t>
            </a:r>
            <a:r>
              <a:rPr lang="en-IN" sz="1600">
                <a:solidFill>
                  <a:schemeClr val="lt1"/>
                </a:solidFill>
              </a:rPr>
              <a:t> The model achieves around </a:t>
            </a:r>
            <a:r>
              <a:rPr b="1" lang="en-IN" sz="1600">
                <a:solidFill>
                  <a:schemeClr val="lt1"/>
                </a:solidFill>
              </a:rPr>
              <a:t>70% accuracy</a:t>
            </a:r>
            <a:r>
              <a:rPr lang="en-IN" sz="1600">
                <a:solidFill>
                  <a:schemeClr val="lt1"/>
                </a:solidFill>
              </a:rPr>
              <a:t> and a </a:t>
            </a:r>
            <a:r>
              <a:rPr b="1" lang="en-IN" sz="1600">
                <a:solidFill>
                  <a:schemeClr val="lt1"/>
                </a:solidFill>
              </a:rPr>
              <a:t>ROC-AUC of 0.71</a:t>
            </a:r>
            <a:r>
              <a:rPr lang="en-IN" sz="1600">
                <a:solidFill>
                  <a:schemeClr val="lt1"/>
                </a:solidFill>
              </a:rPr>
              <a:t>, so predictions are not perfectly reliable.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IN" sz="1600">
                <a:solidFill>
                  <a:schemeClr val="lt1"/>
                </a:solidFill>
              </a:rPr>
              <a:t>Prediction ≠ certainty:</a:t>
            </a:r>
            <a:r>
              <a:rPr lang="en-IN" sz="1600">
                <a:solidFill>
                  <a:schemeClr val="lt1"/>
                </a:solidFill>
              </a:rPr>
              <a:t> The output is a probability estimate, not a guarantee that a household will donate.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IN" sz="1600">
                <a:solidFill>
                  <a:schemeClr val="lt1"/>
                </a:solidFill>
              </a:rPr>
              <a:t>Data limitations:</a:t>
            </a:r>
            <a:r>
              <a:rPr lang="en-IN" sz="1600">
                <a:solidFill>
                  <a:schemeClr val="lt1"/>
                </a:solidFill>
              </a:rPr>
              <a:t> Model performance depends on the quality, coverage, and representativeness of the underlying datasets.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IN" sz="1600">
                <a:solidFill>
                  <a:schemeClr val="lt1"/>
                </a:solidFill>
              </a:rPr>
              <a:t>Hidden assumptions:</a:t>
            </a:r>
            <a:r>
              <a:rPr lang="en-IN" sz="1600">
                <a:solidFill>
                  <a:schemeClr val="lt1"/>
                </a:solidFill>
              </a:rPr>
              <a:t> Some model inputs are estimated or derived from available socioeconomic data when direct household information is unavailable.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IN" sz="1600">
                <a:solidFill>
                  <a:schemeClr val="lt1"/>
                </a:solidFill>
              </a:rPr>
              <a:t>Prototype stage:</a:t>
            </a:r>
            <a:r>
              <a:rPr lang="en-IN" sz="1600">
                <a:solidFill>
                  <a:schemeClr val="lt1"/>
                </a:solidFill>
              </a:rPr>
              <a:t> The app is a </a:t>
            </a:r>
            <a:r>
              <a:rPr b="1" lang="en-IN" sz="1600">
                <a:solidFill>
                  <a:schemeClr val="lt1"/>
                </a:solidFill>
              </a:rPr>
              <a:t>working ML prototype</a:t>
            </a:r>
            <a:r>
              <a:rPr lang="en-IN" sz="1600">
                <a:solidFill>
                  <a:schemeClr val="lt1"/>
                </a:solidFill>
              </a:rPr>
              <a:t>, not a production-grade donor targeting system.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IN" sz="1600">
                <a:solidFill>
                  <a:schemeClr val="lt1"/>
                </a:solidFill>
              </a:rPr>
              <a:t>Responsible use:</a:t>
            </a:r>
            <a:r>
              <a:rPr lang="en-IN" sz="1600">
                <a:solidFill>
                  <a:schemeClr val="lt1"/>
                </a:solidFill>
              </a:rPr>
              <a:t> Predictions should support decision-making, not be used as the sole basis for targeting or excluding individuals or households.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1871700" y="200702"/>
            <a:ext cx="5400600" cy="1290871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Person</a:t>
            </a:r>
            <a:endParaRPr/>
          </a:p>
        </p:txBody>
      </p:sp>
      <p:sp>
        <p:nvSpPr>
          <p:cNvPr id="169" name="Google Shape;16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</a:endParaRPr>
          </a:p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</a:endParaRPr>
          </a:p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500">
                <a:solidFill>
                  <a:schemeClr val="lt1"/>
                </a:solidFill>
              </a:rPr>
              <a:t>Please reach out to Arya Gada at </a:t>
            </a:r>
            <a:r>
              <a:rPr b="1" lang="en-IN" sz="3500" u="sng">
                <a:solidFill>
                  <a:schemeClr val="hlink"/>
                </a:solidFill>
                <a:hlinkClick r:id="rId3"/>
              </a:rPr>
              <a:t>aryagada00@gmail.com</a:t>
            </a:r>
            <a:r>
              <a:rPr b="1" lang="en-IN" sz="3500">
                <a:solidFill>
                  <a:schemeClr val="lt1"/>
                </a:solidFill>
              </a:rPr>
              <a:t> for any questions/ concerns/ suggestions on the App</a:t>
            </a:r>
            <a:endParaRPr sz="35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2000">
        <p:pus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2742076" y="2786058"/>
            <a:ext cx="4258800" cy="1143000"/>
          </a:xfrm>
          <a:prstGeom prst="rect">
            <a:avLst/>
          </a:prstGeom>
          <a:solidFill>
            <a:srgbClr val="F1EDA5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Thank you!</a:t>
            </a:r>
            <a:endParaRPr b="1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2021-09-17T13:31:27Z</dcterms:created>
  <dc:creator>Smita</dc:creator>
</cp:coreProperties>
</file>